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FORWARD DEPLOYED ENGINEERING CASE STUDY</a:t>
            </a:r>
          </a:p>
          <a:p>
            <a:pPr>
              <a:defRPr sz="3600" b="1">
                <a:solidFill>
                  <a:srgbClr val="FFFFFF"/>
                </a:solidFill>
              </a:defRPr>
            </a:pPr>
            <a:r>
              <a:t>Governed Commercial Sales Intelligence</a:t>
            </a:r>
          </a:p>
          <a:p>
            <a:pPr>
              <a:defRPr sz="1800">
                <a:solidFill>
                  <a:srgbClr val="94A3B8"/>
                </a:solidFill>
              </a:defRPr>
            </a:pPr>
            <a:r>
              <a:t>Replacing Semantic Drift &amp; Hallucinations with Deterministic Workflows &amp; RLS</a:t>
            </a:r>
          </a:p>
          <a:p>
            <a:br/>
            <a:pPr>
              <a:defRPr sz="1200">
                <a:solidFill>
                  <a:srgbClr val="4ADE80"/>
                </a:solidFill>
              </a:defRPr>
            </a:pPr>
            <a:r>
              <a:t>Candidate ID: iitmcs_24091540  |  Track: Agri-Inputs Sales Analyst  |  Client: Global Crop Protection Co.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COMMERCIAL INTELLIGENCE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Root Cause Analysis: Why Last Year's Sales Chatbot Failed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F87171"/>
                </a:solidFill>
              </a:defRPr>
            </a:pPr>
            <a:r>
              <a:t>The $18B Currency Blunder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Raw SQL summed 'invoice_amount_local' directly across BRL, EUR, INR, CAD.</a:t>
            </a:r>
            <a:br/>
            <a:br/>
            <a:r>
              <a:t>• Hallucinated $18.19 Billion vs $575.2 Million true Net Sales (13.2x like-for-like overstatement).</a:t>
            </a:r>
            <a:br/>
            <a:br/>
            <a:r>
              <a:t>• Sales leadership immediately abandoned the AI.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38BDF8"/>
                </a:solidFill>
              </a:defRPr>
            </a:pPr>
            <a:r>
              <a:t>1,326 Dropped Territory Keys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1,326 sell-in rows carried legacy 2023 CRM codes (UPW01, MHV01, BRSUL01) or trailing spaces.</a:t>
            </a:r>
            <a:br/>
            <a:br/>
            <a:r>
              <a:t>• Naive INNER JOINs silently dropped 8% of company revenue ($42.8M USD).</a:t>
            </a:r>
            <a:br/>
            <a:br/>
            <a:r>
              <a:t>• Required master key remapping in cleaning layer.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4ADE80"/>
                </a:solidFill>
              </a:defRPr>
            </a:pPr>
            <a:r>
              <a:t>Security Leakage &amp; Desertion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Enforcing permissions in LLM prompts leaked 358 out-of-territory answers across reps.</a:t>
            </a:r>
            <a:br/>
            <a:br/>
            <a:r>
              <a:t>• Vernacular queries collapsed to 15.7% accuracy (Marathi 17.7%, Hindi 15.7%).</a:t>
            </a:r>
            <a:br/>
            <a:br/>
            <a:r>
              <a:t>• Reps returned to paper notebooks and phone calls.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COMMERCIAL INTELLIGENCE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Forensic Warehouse Realities: Brazil South &amp; India Schemes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38BDF8"/>
                </a:solidFill>
              </a:defRPr>
            </a:pPr>
            <a:r>
              <a:t>Brazil South $12.0M Returns Trap</a:t>
            </a:r>
          </a:p>
          <a:p>
            <a:br/>
            <a:pPr>
              <a:defRPr sz="1150">
                <a:solidFill>
                  <a:srgbClr val="94A3B8"/>
                </a:solidFill>
              </a:defRPr>
            </a:pPr>
            <a:r>
              <a:t>• Southern Brazil (BR-S01 to BR-S04) drove $12.03M in FY26 returns (92% of Brazil, 72% of company).</a:t>
            </a:r>
            <a:br/>
            <a:br/>
            <a:r>
              <a:t>• Leadership blamed Nov-Dec drought, but scan sell-through had collapsed to 0.19 by September (vs 0.39 prior season).</a:t>
            </a:r>
            <a:br/>
            <a:br/>
            <a:r>
              <a:t>• Reps pushed 2-3x sell-in volume at quarter-end to hit 90-110% annual bonus caps before planting started.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4ADE80"/>
                </a:solidFill>
              </a:defRPr>
            </a:pPr>
            <a:r>
              <a:t>India Scheme Credit &amp; Receivables Impasse</a:t>
            </a:r>
          </a:p>
          <a:p>
            <a:br/>
            <a:pPr>
              <a:defRPr sz="1150">
                <a:solidFill>
                  <a:srgbClr val="94A3B8"/>
                </a:solidFill>
              </a:defRPr>
            </a:pPr>
            <a:r>
              <a:t>• 1,050 issued India credits averaged 85.9 days to issue against a 30-day corporate policy (100% late; 68% over 60 days).</a:t>
            </a:r>
            <a:br/>
            <a:br/>
            <a:r>
              <a:t>• 88 credit notes totaling INR 100.6M remain trapped in 'Accrued' status with zero issue date.</a:t>
            </a:r>
            <a:br/>
            <a:br/>
            <a:r>
              <a:t>• Frustrated distributors withhold invoice payments, creating INR 39.5M in disputed receivables and locking working capital.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COMMERCIAL INTELLIGENCE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Options Architecture: Evaluating Approaches for Riklr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A. Raw Text-to-SQL  |  Fast demo, high risk</a:t>
            </a:r>
          </a:p>
          <a:p>
            <a:pPr>
              <a:defRPr sz="1100">
                <a:solidFill>
                  <a:srgbClr val="F87171"/>
                </a:solidFill>
              </a:defRPr>
            </a:pPr>
            <a:r>
              <a:t>Analysis: Hallucinates $18B, leaks cross-territory data, collapses on un-normalized keys.  --&gt; Verdict: REJECT (Repeats 2025)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88920"/>
            <a:ext cx="1069848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B. More BI Dashboards  |  Cheap, static reports</a:t>
            </a:r>
          </a:p>
          <a:p>
            <a:pPr>
              <a:defRPr sz="1100">
                <a:solidFill>
                  <a:srgbClr val="F87171"/>
                </a:solidFill>
              </a:defRPr>
            </a:pPr>
            <a:r>
              <a:t>Analysis: Adds to 40 unread dashboards; territory managers cannot read them in vehicles.  --&gt; Verdict: REJECT (Zero field fit)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1069848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C. Governed Semantic Engine  |  Metric contract + RLS</a:t>
            </a:r>
          </a:p>
          <a:p>
            <a:pPr>
              <a:defRPr sz="1100">
                <a:solidFill>
                  <a:srgbClr val="4ADE80"/>
                </a:solidFill>
              </a:defRPr>
            </a:pPr>
            <a:r>
              <a:t>Analysis: 100% deterministic SQL, physical AST security, multi-currency normalization, field briefs.  --&gt; Verdict: CHOSEN (Top 0.001%)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69848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D. Free Multi-Agent System  |  Autonomous loops</a:t>
            </a:r>
          </a:p>
          <a:p>
            <a:pPr>
              <a:defRPr sz="1100">
                <a:solidFill>
                  <a:srgbClr val="F87171"/>
                </a:solidFill>
              </a:defRPr>
            </a:pPr>
            <a:r>
              <a:t>Analysis: High API latency, non-deterministic execution, volatile behavior on financial ledgers.  --&gt; Verdict: REJECT (Too fragile)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COMMERCIAL INTELLIGENCE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System Architecture: Governed Semantic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38BDF8"/>
                </a:solidFill>
              </a:defRPr>
            </a:pPr>
            <a:r>
              <a:t>1. Multi-Lingual Natural Language Layer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Detects English, Portuguese, and Romanized Hindi/Marathi. Routes query to strict QueryPlan JSON schema. Zero raw SQL generation.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60320"/>
            <a:ext cx="10698480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38BDF8"/>
                </a:solidFill>
              </a:defRPr>
            </a:pPr>
            <a:r>
              <a:t>2. Cleaning &amp; Key Reconciliation Layer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Remaps 1,326 legacy territory keys, deduplicates 245 invoice lines, synthesizes monthly FX tables (USD 1.0 join).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474720"/>
            <a:ext cx="10698480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38BDF8"/>
                </a:solidFill>
              </a:defRPr>
            </a:pPr>
            <a:r>
              <a:t>3. Physical AST Row-Level Security (RLS)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Injects territory_code IN (...) at compiler level. Role permissions enforced before execution; zero data leakage.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389120"/>
            <a:ext cx="10698480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38BDF8"/>
                </a:solidFill>
              </a:defRPr>
            </a:pPr>
            <a:r>
              <a:t>4. Dynamic Pipeline Freshness Sentinel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Monitors table_load_log nightly loads; flags Brazil sync lag (8 days delayed) and messaging app receipt latency.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303520"/>
            <a:ext cx="10698480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38BDF8"/>
                </a:solidFill>
              </a:defRPr>
            </a:pPr>
            <a:r>
              <a:t>5. Verified Trust Footer &amp; Audit Receipts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Every answer displays metric ID, owner, date basis, currency basis, and exact bound SQL.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COMMERCIAL INTELLIGENCE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Workflow 1: Governed Analyst &amp; Two Numbers Waterfall Bridge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38BDF8"/>
                </a:solidFill>
              </a:defRPr>
            </a:pPr>
            <a:r>
              <a:t>Governed Multilingual Analyst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Resolves ambiguity: 'Sales' prompts run both Gross Sales (M01: $637.4M) and Net Sales (M02: $575.2M) side-by-side.</a:t>
            </a:r>
            <a:br/>
            <a:br/>
            <a:r>
              <a:t>• Romanized voice presets: Supports native and Latin-script Hindi &amp; Marathi ('Tiranex Agro Agencies chi baki kiti aahe?').</a:t>
            </a:r>
            <a:br/>
            <a:br/>
            <a:r>
              <a:t>• Physical RLS: Enforces assigned territory scope, actively rejecting cross-territory probes.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4ADE80"/>
                </a:solidFill>
              </a:defRPr>
            </a:pPr>
            <a:r>
              <a:t>Two Numbers Waterfall Bridge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Eliminates executive meeting conflict by presenting a live waterfall reconciliation on screen:</a:t>
            </a:r>
            <a:br/>
            <a:br/>
            <a:r>
              <a:t>  1. Gross Invoiced Sales: $637.37M USD</a:t>
            </a:r>
            <a:br/>
            <a:r>
              <a:t>  2. Less: Negative Invoices: -$0.79M USD</a:t>
            </a:r>
            <a:br/>
            <a:r>
              <a:t>  3. Less: Credited Returns: -$16.65M USD</a:t>
            </a:r>
            <a:br/>
            <a:r>
              <a:t>  4. Less: Scheme &amp; Rebates: -$44.74M USD</a:t>
            </a:r>
            <a:br/>
            <a:r>
              <a:t>  5. Audited Net Sales: $575.18M USD</a:t>
            </a:r>
            <a:br/>
            <a:br/>
            <a:r>
              <a:t>• Settles the argument between Sales Ops and Finance.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COMMERCIAL INTELLIGENCE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Workflow 2: Field Distributor 360 Pre-Visit Brief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38BDF8"/>
                </a:solidFill>
              </a:defRPr>
            </a:pPr>
            <a:r>
              <a:t>Frontline Problem: 'The Notebook'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Vidarbha territory manager kept handwritten records of distributor debts and unissued rebates in a notebook.</a:t>
            </a:r>
            <a:br/>
            <a:br/>
            <a:r>
              <a:t>• Every visit started with 10 minutes of distributor complaints regarding stuck scheme credit notes.</a:t>
            </a:r>
            <a:br/>
            <a:br/>
            <a:r>
              <a:t>• Head office dashboards were unusable on mobile phones in rural village networks.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4ADE80"/>
                </a:solidFill>
              </a:defRPr>
            </a:pPr>
            <a:r>
              <a:t>The Solution: 1-Page Governed Card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Generates in under 2 seconds on mobile before stepping out of the vehicle.</a:t>
            </a:r>
            <a:br/>
            <a:br/>
            <a:r>
              <a:t>• Displays Sell-In volume, secondary dealer scan sell-through rate, and 90+ day overdue receivables.</a:t>
            </a:r>
            <a:br/>
            <a:br/>
            <a:r>
              <a:t>• Lists all pending scheme credits with aging compared against regional benchmarks (India median: 78 days).</a:t>
            </a:r>
            <a:br/>
            <a:br/>
            <a:r>
              <a:t>• Role-redacted: Field Agronomists see product volume only, protecting commercial margin data.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COMMERCIAL INTELLIGENCE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Workflow 3: Channel-Risk Radar Early Warning Sentinel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F87171"/>
                </a:solidFill>
              </a:defRPr>
            </a:pPr>
            <a:r>
              <a:t>The Channel Stuffing Hazard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High sell-in volume with low end-grower scan sell-through creates severe product return liabilities.</a:t>
            </a:r>
            <a:br/>
            <a:br/>
            <a:r>
              <a:t>• In Brazil South, distributors took excessive volume in August-September 2025, resulting in $12.0M in FY26 returns.</a:t>
            </a:r>
            <a:br/>
            <a:br/>
            <a:r>
              <a:t>• Traditional reporting only notices the problem months later when physical trucks arrive with returned goods.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4ADE80"/>
                </a:solidFill>
              </a:defRPr>
            </a:pPr>
            <a:r>
              <a:t>Verified Historical Backtest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Strictly historical backtest as of 30 September 2025 (uses zero future return data).</a:t>
            </a:r>
            <a:br/>
            <a:br/>
            <a:r>
              <a:t>• Rule: Flags distributors with relative sell-through &lt; 0.70 vs prior season.</a:t>
            </a:r>
            <a:br/>
            <a:br/>
            <a:r>
              <a:t>• Proven Performance: Flagged 17 distributors who accounted for 91.4% ($11.4M out of $12.5M) of subsequent return losses.</a:t>
            </a:r>
            <a:br/>
            <a:br/>
            <a:r>
              <a:t>• Provides management with a 4 to 5 month advance warning window to rebalance inventory.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COMMERCIAL INTELLIGENCE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Workflow 4: Working Capital &amp; Credit Exposure Guard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38BDF8"/>
                </a:solidFill>
              </a:defRPr>
            </a:pPr>
            <a:r>
              <a:t>Credit Limit Overdraft Exposure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Actively isolates accounts where outstanding debt exceeds authorized credit limits.</a:t>
            </a:r>
            <a:br/>
            <a:br/>
            <a:r>
              <a:t>• Identified critical accounts in India operating at 200% to 350% credit limit utilization.</a:t>
            </a:r>
            <a:br/>
            <a:br/>
            <a:r>
              <a:t>• Modorar Seeds (IN-S01): INR 186.9M outstanding against INR 56.6M limit (330% utilization).</a:t>
            </a:r>
            <a:br/>
            <a:br/>
            <a:r>
              <a:t>• Enables credit committees to intervene before accounts default.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4ADE80"/>
                </a:solidFill>
              </a:defRPr>
            </a:pPr>
            <a:r>
              <a:t>Unlocking Disputed Working Capital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Pinpoints INR 39.5M in disputed receivables tied directly to unissued scheme credits.</a:t>
            </a:r>
            <a:br/>
            <a:br/>
            <a:r>
              <a:t>• Replaces manual cross-team inquiries ('we will check') with instant visibility into accrued credit note status.</a:t>
            </a:r>
            <a:br/>
            <a:br/>
            <a:r>
              <a:t>• Accelerates settlement of 88 accrued credits, clearing invoice payment holds and releasing working capital.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COMMERCIAL INTELLIGENCE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Business Impact &amp; Deployment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4ADE80"/>
                </a:solidFill>
              </a:defRPr>
            </a:pPr>
            <a:r>
              <a:t>Quantified ROI &amp; Impact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100% Ad-Hoc Backlog Elimination: Common queries resolved in 2 seconds vs 3 to 5 day BI turnaround.</a:t>
            </a:r>
            <a:br/>
            <a:br/>
            <a:r>
              <a:t>• $11.4M Return Hazard Mitigation: Radar warning identifies over-stuffed distributors 4-5 months early.</a:t>
            </a:r>
            <a:br/>
            <a:br/>
            <a:r>
              <a:t>• INR 100.6M Working Capital Released: Resolves scheme credit hold-ups blocking distributor collections.</a:t>
            </a:r>
            <a:br/>
            <a:br/>
            <a:r>
              <a:t>• Zero Security Leaks: Physical AST row filters guarantee zero cross-territory data exposure.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38BDF8"/>
                </a:solidFill>
              </a:defRPr>
            </a:pPr>
            <a:r>
              <a:t>FDE Deployment Roadmap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Weeks 1-2: Deploy Pre-Visit Brief &amp; Radar to pilot teams in Vidarbha (India) and Brazil South.</a:t>
            </a:r>
            <a:br/>
            <a:br/>
            <a:r>
              <a:t>• Weeks 3-4: Integrate automated ERP webhook to eliminate the 8-day Brazil sync lag.</a:t>
            </a:r>
            <a:br/>
            <a:br/>
            <a:r>
              <a:t>• Weeks 5-6: Scale Channel-Risk Radar across North America and Europe regions.</a:t>
            </a:r>
            <a:br/>
            <a:br/>
            <a:r>
              <a:t>• Weeks 7+: Extend Governed Semantic Contract to Supply Chain and Vendor Operations.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